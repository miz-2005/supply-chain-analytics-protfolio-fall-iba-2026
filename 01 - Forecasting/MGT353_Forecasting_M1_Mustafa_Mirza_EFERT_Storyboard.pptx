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E6D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F46C3">
              <a:alpha val="90000"/>
            </a:srgbClr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6012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800" b="1">
                <a:solidFill>
                  <a:srgbClr val="FFFFFF"/>
                </a:solidFill>
              </a:rPr>
              <a:t>EFERT Demand Planning</a:t>
            </a:r>
            <a:endParaRPr lang="en-US" sz="3100" dirty="0"/>
          </a:p>
          <a:p>
            <a:r>
              <a:rPr sz="2800" b="1">
                <a:solidFill>
                  <a:srgbClr val="DCEBFF"/>
                </a:solidFill>
              </a:rPr>
              <a:t>Decision Storyboard</a:t>
            </a:r>
          </a:p>
        </p:txBody>
      </p:sp>
      <p:sp>
        <p:nvSpPr>
          <p:cNvPr id="5" name="Text 3"/>
          <p:cNvSpPr/>
          <p:nvPr/>
        </p:nvSpPr>
        <p:spPr>
          <a:xfrm>
            <a:off x="713232" y="225856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>
                <a:solidFill>
                  <a:srgbClr val="DCEBFF"/>
                </a:solidFill>
              </a:rPr>
              <a:t>Engro Urea — 50 kg Bag | 12-Week Forecasting Intelligence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2788920"/>
            <a:ext cx="3749040" cy="0"/>
          </a:xfrm>
          <a:prstGeom prst="line">
            <a:avLst/>
          </a:prstGeom>
          <a:noFill/>
          <a:ln w="15875">
            <a:solidFill>
              <a:srgbClr val="DCE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3154680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4F46C3"/>
          </a:solidFill>
          <a:ln w="12700">
            <a:noFill/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232404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00" b="1">
                <a:solidFill>
                  <a:srgbClr val="FFFFFF"/>
                </a:solidFill>
              </a:rPr>
              <a:t>FORECASTING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84832" y="315468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3B82F6"/>
          </a:solidFill>
          <a:ln w="12700">
            <a:noFill/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57984" y="3232404"/>
            <a:ext cx="996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00" b="1">
                <a:solidFill>
                  <a:srgbClr val="FFFFFF"/>
                </a:solidFill>
              </a:rPr>
              <a:t>VALIDATION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64992" y="315468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EAB308"/>
          </a:solidFill>
          <a:ln w="12700">
            <a:noFill/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38144" y="3232404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00" b="1">
                <a:solidFill>
                  <a:srgbClr val="1F2E6D"/>
                </a:solidFill>
              </a:rPr>
              <a:t>DECISION SUPPORT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13232" y="5961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>
                <a:solidFill>
                  <a:srgbClr val="FFFFFF"/>
                </a:solidFill>
              </a:rPr>
              <a:t>Mustafa Mirza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623620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700">
                <a:solidFill>
                  <a:srgbClr val="DCEBFF"/>
                </a:solidFill>
              </a:rPr>
              <a:t>MGT-353 Supply Chain Analytics | Portfolio Milestone 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275320" y="1143000"/>
            <a:ext cx="3063240" cy="4251960"/>
          </a:xfrm>
          <a:prstGeom prst="roundRect">
            <a:avLst>
              <a:gd name="adj" fmla="val 2388"/>
            </a:avLst>
          </a:prstGeom>
          <a:solidFill>
            <a:srgbClr val="F3F0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b="1">
                <a:solidFill>
                  <a:srgbClr val="667085"/>
                </a:solidFill>
              </a:rPr>
              <a:t>Six-frame argument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67928" y="1901952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noFill/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42832" y="18836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>
                <a:solidFill>
                  <a:srgbClr val="0F172A"/>
                </a:solidFill>
              </a:rPr>
              <a:t>01  Decision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67928" y="2377440"/>
            <a:ext cx="201168" cy="201168"/>
          </a:xfrm>
          <a:prstGeom prst="ellipse">
            <a:avLst/>
          </a:prstGeom>
          <a:solidFill>
            <a:srgbClr val="4F46C3"/>
          </a:solidFill>
          <a:ln w="12700">
            <a:noFill/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42832" y="2359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>
                <a:solidFill>
                  <a:srgbClr val="0F172A"/>
                </a:solidFill>
              </a:rPr>
              <a:t>02  Demand Pattern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567928" y="2852928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noFill/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42832" y="28346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>
                <a:solidFill>
                  <a:srgbClr val="0F172A"/>
                </a:solidFill>
              </a:rPr>
              <a:t>03  Model Choice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567928" y="3328416"/>
            <a:ext cx="201168" cy="201168"/>
          </a:xfrm>
          <a:prstGeom prst="ellipse">
            <a:avLst/>
          </a:prstGeom>
          <a:solidFill>
            <a:srgbClr val="4F46C3"/>
          </a:solidFill>
          <a:ln w="12700">
            <a:noFill/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42832" y="33101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>
                <a:solidFill>
                  <a:srgbClr val="0F172A"/>
                </a:solidFill>
              </a:rPr>
              <a:t>04  Drivers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67928" y="3803904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noFill/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42832" y="37856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>
                <a:solidFill>
                  <a:srgbClr val="0F172A"/>
                </a:solidFill>
              </a:rPr>
              <a:t>05  Risk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567928" y="4279392"/>
            <a:ext cx="201168" cy="201168"/>
          </a:xfrm>
          <a:prstGeom prst="ellipse">
            <a:avLst/>
          </a:prstGeom>
          <a:solidFill>
            <a:srgbClr val="EAB308"/>
          </a:solidFill>
          <a:ln w="12700">
            <a:noFill/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42832" y="4261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>
                <a:solidFill>
                  <a:srgbClr val="0F172A"/>
                </a:solidFill>
              </a:rPr>
              <a:t>06  Action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00" b="1">
                <a:solidFill>
                  <a:srgbClr val="667085"/>
                </a:solidFill>
              </a:rPr>
              <a:t>FRAME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900" b="1">
                <a:solidFill>
                  <a:srgbClr val="0F172A"/>
                </a:solidFill>
              </a:rPr>
              <a:t>Decision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10424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00">
                <a:solidFill>
                  <a:srgbClr val="667085"/>
                </a:solidFill>
              </a:rPr>
              <a:t>How much Engro Urea should EFERT commit for the next 12 weeks?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1292840" cy="0"/>
          </a:xfrm>
          <a:prstGeom prst="line">
            <a:avLst/>
          </a:prstGeom>
          <a:noFill/>
          <a:ln w="10160">
            <a:solidFill>
              <a:srgbClr val="D9DD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80192" y="274320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 w="12700">
            <a:noFill/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80192" y="342900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00" b="1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D7187"/>
                </a:solidFill>
              </a:rPr>
              <a:t>Mustafa Mirza | MGT-353 Supply Chain Analytics | EFERT Engro Urea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66928" y="1517904"/>
            <a:ext cx="4663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5623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3B80"/>
                </a:solidFill>
              </a:rPr>
              <a:t>11.07M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960120" y="2542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D7187"/>
                </a:solidFill>
              </a:rPr>
              <a:t>expected 50 kg bags over the next 12 weeks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" y="3063240"/>
            <a:ext cx="3273552" cy="320040"/>
          </a:xfrm>
          <a:prstGeom prst="rect">
            <a:avLst/>
          </a:prstGeom>
          <a:solidFill>
            <a:srgbClr val="2878F0"/>
          </a:solidFill>
          <a:ln w="12700">
            <a:solidFill>
              <a:srgbClr val="2878F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33672" y="3063240"/>
            <a:ext cx="502920" cy="320040"/>
          </a:xfrm>
          <a:prstGeom prst="rect">
            <a:avLst/>
          </a:prstGeom>
          <a:solidFill>
            <a:srgbClr val="5B4BC4"/>
          </a:solidFill>
          <a:ln w="12700">
            <a:solidFill>
              <a:srgbClr val="5B4BC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44728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878F0"/>
                </a:solidFill>
              </a:rPr>
              <a:t>90% COMMIT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931920" y="344728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5B4BC4"/>
                </a:solidFill>
              </a:rPr>
              <a:t>10% FLEX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877824" y="37033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878F0"/>
                </a:solidFill>
              </a:rPr>
              <a:t>Decision question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77824" y="3913632"/>
            <a:ext cx="388620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233A"/>
                </a:solidFill>
              </a:rPr>
              <a:t>How much should be locked through production and distributor replenishment versus retained as responsiveness?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32120" y="1517904"/>
            <a:ext cx="18288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32120" y="1517904"/>
            <a:ext cx="1828800" cy="45720"/>
          </a:xfrm>
          <a:prstGeom prst="rect">
            <a:avLst/>
          </a:prstGeom>
          <a:solidFill>
            <a:srgbClr val="2878F0"/>
          </a:solidFill>
          <a:ln w="12700">
            <a:solidFill>
              <a:srgbClr val="2878F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41848" y="1664208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7187"/>
                </a:solidFill>
              </a:rPr>
              <a:t>AVG / WEEK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5641848" y="1883664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78F0"/>
                </a:solidFill>
              </a:rPr>
              <a:t>922K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641848" y="223113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187"/>
                </a:solidFill>
              </a:rPr>
              <a:t>bags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543800" y="1517904"/>
            <a:ext cx="18288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1517904"/>
            <a:ext cx="1828800" cy="4572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53528" y="1664208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7187"/>
                </a:solidFill>
              </a:rPr>
              <a:t>PEAK WEEK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7653528" y="1883664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2B84B"/>
                </a:solidFill>
              </a:rPr>
              <a:t>1.17M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653528" y="223113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187"/>
                </a:solidFill>
              </a:rPr>
              <a:t>05 Jan 2026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555480" y="1517904"/>
            <a:ext cx="18288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55480" y="1517904"/>
            <a:ext cx="1828800" cy="45720"/>
          </a:xfrm>
          <a:prstGeom prst="rect">
            <a:avLst/>
          </a:prstGeom>
          <a:solidFill>
            <a:srgbClr val="5B4BC4"/>
          </a:solidFill>
          <a:ln w="12700">
            <a:solidFill>
              <a:srgbClr val="5B4BC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65208" y="1664208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7187"/>
                </a:solidFill>
              </a:rPr>
              <a:t>TARGET UNIT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9665208" y="1883664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B4BC4"/>
                </a:solidFill>
              </a:rPr>
              <a:t>50 kg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665208" y="223113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187"/>
                </a:solidFill>
              </a:rPr>
              <a:t>bag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532120" y="2788920"/>
            <a:ext cx="5852160" cy="1682496"/>
          </a:xfrm>
          <a:prstGeom prst="roundRect">
            <a:avLst>
              <a:gd name="adj" fmla="val 4348"/>
            </a:avLst>
          </a:prstGeom>
          <a:solidFill>
            <a:srgbClr val="EEF0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30632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3B80"/>
                </a:solidFill>
              </a:rPr>
              <a:t>The objective is not simply to forecast demand.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806440" y="3547872"/>
            <a:ext cx="5166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33A"/>
                </a:solidFill>
              </a:rPr>
              <a:t>It is to convert the forecast into a flexible supply commitment that can survive downside, upside and supply constraints.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" y="5870448"/>
            <a:ext cx="1100023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" y="5870448"/>
            <a:ext cx="73152" cy="475488"/>
          </a:xfrm>
          <a:prstGeom prst="rect">
            <a:avLst/>
          </a:prstGeom>
          <a:solidFill>
            <a:srgbClr val="253B80"/>
          </a:solidFill>
          <a:ln w="12700">
            <a:solidFill>
              <a:srgbClr val="253B8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" y="598932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0233A"/>
                </a:solidFill>
              </a:rPr>
              <a:t>Frame 1 takeaway: the operating decision is 90% commitment now, 10% responsiveness retained.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00" b="1">
                <a:solidFill>
                  <a:srgbClr val="667085"/>
                </a:solidFill>
              </a:rPr>
              <a:t>FRAME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900" b="1">
                <a:solidFill>
                  <a:srgbClr val="0F172A"/>
                </a:solidFill>
              </a:rPr>
              <a:t>Demand Pattern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10424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00">
                <a:solidFill>
                  <a:srgbClr val="667085"/>
                </a:solidFill>
              </a:rPr>
              <a:t>Engro Urea demand is seasonal, trending upward and operationally variable.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1292840" cy="0"/>
          </a:xfrm>
          <a:prstGeom prst="line">
            <a:avLst/>
          </a:prstGeom>
          <a:noFill/>
          <a:ln w="10160">
            <a:solidFill>
              <a:srgbClr val="D9DD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80192" y="274320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4F46C3"/>
          </a:solidFill>
          <a:ln w="12700">
            <a:noFill/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80192" y="342900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00" b="1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D7187"/>
                </a:solidFill>
              </a:rPr>
              <a:t>Mustafa Mirza | MGT-353 Supply Chain Analytics | EFERT Engro Urea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66928" y="1444752"/>
            <a:ext cx="64008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7373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33A"/>
                </a:solidFill>
              </a:rPr>
              <a:t>Historical demand signal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20116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7187"/>
                </a:solidFill>
              </a:rPr>
              <a:t>Recurring peaks align with Rabi/Kharif windows; level-only methods would lag.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8680" y="2487168"/>
            <a:ext cx="5532120" cy="2377440"/>
          </a:xfrm>
          <a:prstGeom prst="rect">
            <a:avLst/>
          </a:prstGeom>
          <a:solidFill>
            <a:srgbClr val="FAFBFF"/>
          </a:solidFill>
          <a:ln w="12700">
            <a:solidFill>
              <a:srgbClr val="DDE1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962656"/>
            <a:ext cx="5532120" cy="0"/>
          </a:xfrm>
          <a:prstGeom prst="line">
            <a:avLst/>
          </a:prstGeom>
          <a:noFill/>
          <a:ln w="10160">
            <a:solidFill>
              <a:srgbClr val="E4E8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438144"/>
            <a:ext cx="5532120" cy="0"/>
          </a:xfrm>
          <a:prstGeom prst="line">
            <a:avLst/>
          </a:prstGeom>
          <a:noFill/>
          <a:ln w="10160">
            <a:solidFill>
              <a:srgbClr val="E4E8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913632"/>
            <a:ext cx="5532120" cy="0"/>
          </a:xfrm>
          <a:prstGeom prst="line">
            <a:avLst/>
          </a:prstGeom>
          <a:noFill/>
          <a:ln w="10160">
            <a:solidFill>
              <a:srgbClr val="E4E8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389120"/>
            <a:ext cx="5532120" cy="0"/>
          </a:xfrm>
          <a:prstGeom prst="line">
            <a:avLst/>
          </a:prstGeom>
          <a:noFill/>
          <a:ln w="10160">
            <a:solidFill>
              <a:srgbClr val="E4E8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557016"/>
            <a:ext cx="240527" cy="-309067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9207" y="3247949"/>
            <a:ext cx="240527" cy="-237744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49734" y="3010205"/>
            <a:ext cx="240527" cy="142646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90261" y="3152851"/>
            <a:ext cx="240527" cy="713232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30788" y="3866083"/>
            <a:ext cx="240527" cy="-190195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71315" y="3675888"/>
            <a:ext cx="240527" cy="-404165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11842" y="3271723"/>
            <a:ext cx="240527" cy="-356616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369" y="2915107"/>
            <a:ext cx="240527" cy="285293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92896" y="3200400"/>
            <a:ext cx="240527" cy="523037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3423" y="3723437"/>
            <a:ext cx="240527" cy="-237744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73950" y="3485693"/>
            <a:ext cx="240527" cy="-499262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14477" y="2986430"/>
            <a:ext cx="240527" cy="-285293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55003" y="2701138"/>
            <a:ext cx="240527" cy="404165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95530" y="3105302"/>
            <a:ext cx="240527" cy="523037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36057" y="3628339"/>
            <a:ext cx="240527" cy="-190195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76584" y="3438144"/>
            <a:ext cx="240527" cy="-404165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17111" y="3033979"/>
            <a:ext cx="240527" cy="-427939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57638" y="2606040"/>
            <a:ext cx="240527" cy="404165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98165" y="3010205"/>
            <a:ext cx="240527" cy="475488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38692" y="3485693"/>
            <a:ext cx="240527" cy="-166421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79219" y="3319272"/>
            <a:ext cx="240527" cy="-546811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19746" y="2772461"/>
            <a:ext cx="240527" cy="142646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60273" y="2915107"/>
            <a:ext cx="240527" cy="499262"/>
          </a:xfrm>
          <a:prstGeom prst="line">
            <a:avLst/>
          </a:prstGeom>
          <a:noFill/>
          <a:ln w="26670">
            <a:solidFill>
              <a:srgbClr val="287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0" y="2688336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16D15"/>
                </a:solidFill>
              </a:rPr>
              <a:t>RABI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200400" y="2505456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5B4BC4"/>
                </a:solidFill>
              </a:rPr>
              <a:t>KHARIF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5303520" y="2596896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16D15"/>
                </a:solidFill>
              </a:rPr>
              <a:t>RABI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914400" y="501091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187"/>
                </a:solidFill>
              </a:rPr>
              <a:t>2023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410712" y="501091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187"/>
                </a:solidFill>
              </a:rPr>
              <a:t>2024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916168" y="501091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187"/>
                </a:solidFill>
              </a:rPr>
              <a:t>2025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315200" y="1444752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00" y="1444752"/>
            <a:ext cx="1691640" cy="45720"/>
          </a:xfrm>
          <a:prstGeom prst="rect">
            <a:avLst/>
          </a:prstGeom>
          <a:solidFill>
            <a:srgbClr val="253B80"/>
          </a:solidFill>
          <a:ln w="12700">
            <a:solidFill>
              <a:srgbClr val="253B8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24928" y="1591056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7187"/>
                </a:solidFill>
              </a:rPr>
              <a:t>MEAN WEEKLY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7424928" y="1810512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53B80"/>
                </a:solidFill>
              </a:rPr>
              <a:t>882K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7424928" y="2157984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187"/>
                </a:solidFill>
              </a:rPr>
              <a:t>bags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189720" y="1444752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89720" y="1444752"/>
            <a:ext cx="1691640" cy="45720"/>
          </a:xfrm>
          <a:prstGeom prst="rect">
            <a:avLst/>
          </a:prstGeom>
          <a:solidFill>
            <a:srgbClr val="F08A5D"/>
          </a:solidFill>
          <a:ln w="12700">
            <a:solidFill>
              <a:srgbClr val="F08A5D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99448" y="1591056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7187"/>
                </a:solidFill>
              </a:rPr>
              <a:t>CV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9299448" y="1810512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08A5D"/>
                </a:solidFill>
              </a:rPr>
              <a:t>17.2%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9299448" y="2157984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187"/>
                </a:solidFill>
              </a:rPr>
              <a:t>material variability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315200" y="2578608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15200" y="2578608"/>
            <a:ext cx="1691640" cy="45720"/>
          </a:xfrm>
          <a:prstGeom prst="rect">
            <a:avLst/>
          </a:prstGeom>
          <a:solidFill>
            <a:srgbClr val="E45B67"/>
          </a:solidFill>
          <a:ln w="12700">
            <a:solidFill>
              <a:srgbClr val="E45B67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24928" y="2724912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7187"/>
                </a:solidFill>
              </a:rPr>
              <a:t>MINIMUM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7424928" y="2944368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45B67"/>
                </a:solidFill>
              </a:rPr>
              <a:t>450K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7424928" y="3291840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187"/>
                </a:solidFill>
              </a:rPr>
              <a:t>bags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189720" y="2578608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89720" y="2578608"/>
            <a:ext cx="1691640" cy="45720"/>
          </a:xfrm>
          <a:prstGeom prst="rect">
            <a:avLst/>
          </a:prstGeom>
          <a:solidFill>
            <a:srgbClr val="2878F0"/>
          </a:solidFill>
          <a:ln w="12700">
            <a:solidFill>
              <a:srgbClr val="2878F0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99448" y="2724912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7187"/>
                </a:solidFill>
              </a:rPr>
              <a:t>MAXIMUM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9299448" y="2944368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78F0"/>
                </a:solidFill>
              </a:rPr>
              <a:t>1.23M</a:t>
            </a:r>
            <a:endParaRPr lang="en-US" sz="1700" dirty="0"/>
          </a:p>
        </p:txBody>
      </p:sp>
      <p:sp>
        <p:nvSpPr>
          <p:cNvPr id="65" name="Text 63"/>
          <p:cNvSpPr/>
          <p:nvPr/>
        </p:nvSpPr>
        <p:spPr>
          <a:xfrm>
            <a:off x="9299448" y="3291840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187"/>
                </a:solidFill>
              </a:rPr>
              <a:t>bags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315200" y="3822192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1ED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16368" y="40233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4BC4"/>
                </a:solidFill>
              </a:rPr>
              <a:t>Model implication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516368" y="4251960"/>
            <a:ext cx="30632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0233A"/>
                </a:solidFill>
              </a:rPr>
              <a:t>The model must understand trend + recurring annual seasonality. Simple smoothing alone is too blunt.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94360" y="5870448"/>
            <a:ext cx="1100023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94360" y="5870448"/>
            <a:ext cx="73152" cy="475488"/>
          </a:xfrm>
          <a:prstGeom prst="rect">
            <a:avLst/>
          </a:prstGeom>
          <a:solidFill>
            <a:srgbClr val="5B4BC4"/>
          </a:solidFill>
          <a:ln w="12700">
            <a:solidFill>
              <a:srgbClr val="5B4BC4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04672" y="598932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0233A"/>
                </a:solidFill>
              </a:rPr>
              <a:t>Frame 2 takeaway: the demand pattern requires a trend-and-seasonality-capable model.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00" b="1">
                <a:solidFill>
                  <a:srgbClr val="667085"/>
                </a:solidFill>
              </a:rPr>
              <a:t>FRAME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900" b="1">
                <a:solidFill>
                  <a:srgbClr val="0F172A"/>
                </a:solidFill>
              </a:rPr>
              <a:t>Model Choice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10424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00">
                <a:solidFill>
                  <a:srgbClr val="667085"/>
                </a:solidFill>
              </a:rPr>
              <a:t>Holt-Winters wins on unseen demand — but bias still matters.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1292840" cy="0"/>
          </a:xfrm>
          <a:prstGeom prst="line">
            <a:avLst/>
          </a:prstGeom>
          <a:noFill/>
          <a:ln w="10160">
            <a:solidFill>
              <a:srgbClr val="D9DD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80192" y="274320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 w="12700">
            <a:noFill/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80192" y="342900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00" b="1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D7187"/>
                </a:solidFill>
              </a:rPr>
              <a:t>Mustafa Mirza | MGT-353 Supply Chain Analytics | EFERT Engro Urea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66928" y="1444752"/>
            <a:ext cx="58064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37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33A"/>
                </a:solidFill>
              </a:rPr>
              <a:t>Holdout WAPE ranking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1808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0233A"/>
                </a:solidFill>
              </a:rPr>
              <a:t>Holt-Winters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77440" y="2148840"/>
            <a:ext cx="1218253" cy="164592"/>
          </a:xfrm>
          <a:prstGeom prst="rect">
            <a:avLst/>
          </a:prstGeom>
          <a:solidFill>
            <a:srgbClr val="2878F0"/>
          </a:solidFill>
          <a:ln w="12700">
            <a:solidFill>
              <a:srgbClr val="2878F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8845" y="21808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0233A"/>
                </a:solidFill>
              </a:rPr>
              <a:t>6.64%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777240" y="257403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0233A"/>
                </a:solidFill>
              </a:rPr>
              <a:t>Seasonal Naive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77440" y="2542032"/>
            <a:ext cx="1726470" cy="164592"/>
          </a:xfrm>
          <a:prstGeom prst="rect">
            <a:avLst/>
          </a:prstGeom>
          <a:solidFill>
            <a:srgbClr val="A9AEC2"/>
          </a:solidFill>
          <a:ln w="12700">
            <a:solidFill>
              <a:srgbClr val="A9AE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77062" y="25740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0233A"/>
                </a:solidFill>
              </a:rPr>
              <a:t>9.41%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777240" y="29672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0233A"/>
                </a:solidFill>
              </a:rPr>
              <a:t>SES α=0.3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77440" y="2935224"/>
            <a:ext cx="2495217" cy="164592"/>
          </a:xfrm>
          <a:prstGeom prst="rect">
            <a:avLst/>
          </a:prstGeom>
          <a:solidFill>
            <a:srgbClr val="A9AEC2"/>
          </a:solidFill>
          <a:ln w="12700">
            <a:solidFill>
              <a:srgbClr val="A9AEC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45809" y="29672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0233A"/>
                </a:solidFill>
              </a:rPr>
              <a:t>13.60%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777240" y="33604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0233A"/>
                </a:solidFill>
              </a:rPr>
              <a:t>Moving Avg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377440" y="3328416"/>
            <a:ext cx="2585118" cy="164592"/>
          </a:xfrm>
          <a:prstGeom prst="rect">
            <a:avLst/>
          </a:prstGeom>
          <a:solidFill>
            <a:srgbClr val="A9AEC2"/>
          </a:solidFill>
          <a:ln w="12700">
            <a:solidFill>
              <a:srgbClr val="A9AEC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35710" y="33604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0233A"/>
                </a:solidFill>
              </a:rPr>
              <a:t>14.09%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777240" y="37536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0233A"/>
                </a:solidFill>
              </a:rPr>
              <a:t>SES α=0.6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77440" y="3721608"/>
            <a:ext cx="2619978" cy="164592"/>
          </a:xfrm>
          <a:prstGeom prst="rect">
            <a:avLst/>
          </a:prstGeom>
          <a:solidFill>
            <a:srgbClr val="A9AEC2"/>
          </a:solidFill>
          <a:ln w="12700">
            <a:solidFill>
              <a:srgbClr val="A9AEC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0570" y="37536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0233A"/>
                </a:solidFill>
              </a:rPr>
              <a:t>14.28%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777240" y="41468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0233A"/>
                </a:solidFill>
              </a:rPr>
              <a:t>Holt Trend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377440" y="4114800"/>
            <a:ext cx="2641995" cy="164592"/>
          </a:xfrm>
          <a:prstGeom prst="rect">
            <a:avLst/>
          </a:prstGeom>
          <a:solidFill>
            <a:srgbClr val="A9AEC2"/>
          </a:solidFill>
          <a:ln w="12700">
            <a:solidFill>
              <a:srgbClr val="A9AEC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92587" y="41468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0233A"/>
                </a:solidFill>
              </a:rPr>
              <a:t>14.40%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777240" y="453999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20233A"/>
                </a:solidFill>
              </a:rPr>
              <a:t>Naive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377440" y="4507992"/>
            <a:ext cx="2834640" cy="164592"/>
          </a:xfrm>
          <a:prstGeom prst="rect">
            <a:avLst/>
          </a:prstGeom>
          <a:solidFill>
            <a:srgbClr val="A9AEC2"/>
          </a:solidFill>
          <a:ln w="12700">
            <a:solidFill>
              <a:srgbClr val="A9AEC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5232" y="45399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0233A"/>
                </a:solidFill>
              </a:rPr>
              <a:t>15.45%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4160520" y="505663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187"/>
                </a:solidFill>
              </a:rPr>
              <a:t>Lower is better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6720840" y="1444752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1444752"/>
            <a:ext cx="1691640" cy="45720"/>
          </a:xfrm>
          <a:prstGeom prst="rect">
            <a:avLst/>
          </a:prstGeom>
          <a:solidFill>
            <a:srgbClr val="2878F0"/>
          </a:solidFill>
          <a:ln w="12700">
            <a:solidFill>
              <a:srgbClr val="2878F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30568" y="1591056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7187"/>
                </a:solidFill>
              </a:rPr>
              <a:t>WAPE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6830568" y="1810512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878F0"/>
                </a:solidFill>
              </a:rPr>
              <a:t>6.64%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830568" y="2157984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187"/>
                </a:solidFill>
              </a:rPr>
              <a:t>best holdout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613648" y="1444752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13648" y="1444752"/>
            <a:ext cx="1691640" cy="45720"/>
          </a:xfrm>
          <a:prstGeom prst="rect">
            <a:avLst/>
          </a:prstGeom>
          <a:solidFill>
            <a:srgbClr val="5B4BC4"/>
          </a:solidFill>
          <a:ln w="12700">
            <a:solidFill>
              <a:srgbClr val="5B4BC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23376" y="1591056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7187"/>
                </a:solidFill>
              </a:rPr>
              <a:t>MAPE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8723376" y="1810512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B4BC4"/>
                </a:solidFill>
              </a:rPr>
              <a:t>7.09%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8723376" y="2157984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187"/>
                </a:solidFill>
              </a:rPr>
              <a:t>average miss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720840" y="2578608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20840" y="2578608"/>
            <a:ext cx="1691640" cy="45720"/>
          </a:xfrm>
          <a:prstGeom prst="rect">
            <a:avLst/>
          </a:prstGeom>
          <a:solidFill>
            <a:srgbClr val="253B80"/>
          </a:solidFill>
          <a:ln w="12700">
            <a:solidFill>
              <a:srgbClr val="253B80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30568" y="2724912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7187"/>
                </a:solidFill>
              </a:rPr>
              <a:t>MAD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6830568" y="2944368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53B80"/>
                </a:solidFill>
              </a:rPr>
              <a:t>63K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830568" y="3291840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187"/>
                </a:solidFill>
              </a:rPr>
              <a:t>bags / week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613648" y="2578608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13648" y="2578608"/>
            <a:ext cx="1691640" cy="45720"/>
          </a:xfrm>
          <a:prstGeom prst="rect">
            <a:avLst/>
          </a:prstGeom>
          <a:solidFill>
            <a:srgbClr val="F08A5D"/>
          </a:solidFill>
          <a:ln w="12700">
            <a:solidFill>
              <a:srgbClr val="F08A5D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23376" y="2724912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7187"/>
                </a:solidFill>
              </a:rPr>
              <a:t>TRACKING SIGNAL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8723376" y="2944368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08A5D"/>
                </a:solidFill>
              </a:rPr>
              <a:t>-5.33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8723376" y="3291840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187"/>
                </a:solidFill>
              </a:rPr>
              <a:t>bias watch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720840" y="388620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FF7E5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67728" y="41148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8A5D"/>
                </a:solidFill>
              </a:rPr>
              <a:t>Important nuance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967728" y="4352544"/>
            <a:ext cx="324612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0233A"/>
                </a:solidFill>
              </a:rPr>
              <a:t>Holt-Winters is the accuracy winner, but its negative bias means the point forecast should not become a 100% firm commitment.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94360" y="5870448"/>
            <a:ext cx="1100023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4360" y="5870448"/>
            <a:ext cx="73152" cy="475488"/>
          </a:xfrm>
          <a:prstGeom prst="rect">
            <a:avLst/>
          </a:prstGeom>
          <a:solidFill>
            <a:srgbClr val="2878F0"/>
          </a:solidFill>
          <a:ln w="12700">
            <a:solidFill>
              <a:srgbClr val="2878F0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4672" y="598932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0233A"/>
                </a:solidFill>
              </a:rPr>
              <a:t>Frame 3 takeaway: accuracy justifies Holt-Winters; bias justifies flexible execution.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00" b="1">
                <a:solidFill>
                  <a:srgbClr val="667085"/>
                </a:solidFill>
              </a:rPr>
              <a:t>FRAME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900" b="1">
                <a:solidFill>
                  <a:srgbClr val="0F172A"/>
                </a:solidFill>
              </a:rPr>
              <a:t>Demand Drivers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10424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00">
                <a:solidFill>
                  <a:srgbClr val="667085"/>
                </a:solidFill>
              </a:rPr>
              <a:t>Demand appears more sensitive to agricultural timing and channel activity than price.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1292840" cy="0"/>
          </a:xfrm>
          <a:prstGeom prst="line">
            <a:avLst/>
          </a:prstGeom>
          <a:noFill/>
          <a:ln w="10160">
            <a:solidFill>
              <a:srgbClr val="D9DD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80192" y="274320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EAB308"/>
          </a:solidFill>
          <a:ln w="12700">
            <a:noFill/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80192" y="342900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00" b="1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D7187"/>
                </a:solidFill>
              </a:rPr>
              <a:t>Mustafa Mirza | MGT-353 Supply Chain Analytics | EFERT Engro Urea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66928" y="1444752"/>
            <a:ext cx="11064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556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33A"/>
                </a:solidFill>
              </a:rPr>
              <a:t>Regression strength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0299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4BC4"/>
                </a:solidFill>
              </a:rPr>
              <a:t>R² = 81.6% | Adjusted R² = 81.1%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2487168"/>
            <a:ext cx="4498848" cy="969264"/>
          </a:xfrm>
          <a:prstGeom prst="roundRect">
            <a:avLst>
              <a:gd name="adj" fmla="val 7547"/>
            </a:avLst>
          </a:prstGeom>
          <a:solidFill>
            <a:srgbClr val="FFF7E5"/>
          </a:solidFill>
          <a:ln w="10160">
            <a:solidFill>
              <a:srgbClr val="F2B8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487168"/>
            <a:ext cx="73152" cy="969264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51760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6D7187"/>
                </a:solidFill>
              </a:rPr>
              <a:t>AGRICULTURAL EVENT WINDOW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09728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16D15"/>
                </a:solidFill>
              </a:rPr>
              <a:t>+231K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286000" y="292608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33A"/>
                </a:solidFill>
              </a:rPr>
              <a:t>bags / week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97280" y="31821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16D15"/>
                </a:solidFill>
              </a:rPr>
              <a:t>Strong statistical evidence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760720" y="2487168"/>
            <a:ext cx="4498848" cy="969264"/>
          </a:xfrm>
          <a:prstGeom prst="roundRect">
            <a:avLst>
              <a:gd name="adj" fmla="val 7547"/>
            </a:avLst>
          </a:prstGeom>
          <a:solidFill>
            <a:srgbClr val="EEF0FF"/>
          </a:solidFill>
          <a:ln w="10160">
            <a:solidFill>
              <a:srgbClr val="287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2487168"/>
            <a:ext cx="73152" cy="969264"/>
          </a:xfrm>
          <a:prstGeom prst="rect">
            <a:avLst/>
          </a:prstGeom>
          <a:solidFill>
            <a:srgbClr val="2878F0"/>
          </a:solidFill>
          <a:ln w="12700">
            <a:solidFill>
              <a:srgbClr val="2878F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2651760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6D7187"/>
                </a:solidFill>
              </a:rPr>
              <a:t>PROMOTION WEEK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598932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78F0"/>
                </a:solidFill>
              </a:rPr>
              <a:t>+148K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292608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33A"/>
                </a:solidFill>
              </a:rPr>
              <a:t>bags / week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89320" y="31821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878F0"/>
                </a:solidFill>
              </a:rPr>
              <a:t>Strong statistical evidence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68680" y="3694176"/>
            <a:ext cx="4498848" cy="969264"/>
          </a:xfrm>
          <a:prstGeom prst="roundRect">
            <a:avLst>
              <a:gd name="adj" fmla="val 7547"/>
            </a:avLst>
          </a:prstGeom>
          <a:solidFill>
            <a:srgbClr val="EEEFF6"/>
          </a:solidFill>
          <a:ln w="10160">
            <a:solidFill>
              <a:srgbClr val="5B4B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694176"/>
            <a:ext cx="73152" cy="969264"/>
          </a:xfrm>
          <a:prstGeom prst="rect">
            <a:avLst/>
          </a:prstGeom>
          <a:solidFill>
            <a:srgbClr val="5B4BC4"/>
          </a:solidFill>
          <a:ln w="12700">
            <a:solidFill>
              <a:srgbClr val="5B4BC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858768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6D7187"/>
                </a:solidFill>
              </a:rPr>
              <a:t>+10 DISTRIBUTION POINTS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1097280" y="40416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4BC4"/>
                </a:solidFill>
              </a:rPr>
              <a:t>+13K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286000" y="413308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33A"/>
                </a:solidFill>
              </a:rPr>
              <a:t>bags / week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97280" y="43891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4BC4"/>
                </a:solidFill>
              </a:rPr>
              <a:t>Operationally actionable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760720" y="3694176"/>
            <a:ext cx="4498848" cy="969264"/>
          </a:xfrm>
          <a:prstGeom prst="roundRect">
            <a:avLst>
              <a:gd name="adj" fmla="val 7547"/>
            </a:avLst>
          </a:prstGeom>
          <a:solidFill>
            <a:srgbClr val="F3F0EB"/>
          </a:solidFill>
          <a:ln w="10160">
            <a:solidFill>
              <a:srgbClr val="A9AE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3694176"/>
            <a:ext cx="73152" cy="969264"/>
          </a:xfrm>
          <a:prstGeom prst="rect">
            <a:avLst/>
          </a:prstGeom>
          <a:solidFill>
            <a:srgbClr val="A9AEC2"/>
          </a:solidFill>
          <a:ln w="12700">
            <a:solidFill>
              <a:srgbClr val="A9AEC2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3858768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6D7187"/>
                </a:solidFill>
              </a:rPr>
              <a:t>PRICE + PKR 100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5989320" y="40416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7187"/>
                </a:solidFill>
              </a:rPr>
              <a:t>-1.8K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178040" y="413308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33A"/>
                </a:solidFill>
              </a:rPr>
              <a:t>bags / week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89320" y="43891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187"/>
                </a:solidFill>
              </a:rPr>
              <a:t>Not statistically significant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68680" y="5010912"/>
            <a:ext cx="9390888" cy="411480"/>
          </a:xfrm>
          <a:prstGeom prst="roundRect">
            <a:avLst>
              <a:gd name="adj" fmla="val 17778"/>
            </a:avLst>
          </a:prstGeom>
          <a:solidFill>
            <a:srgbClr val="F8E9ED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" y="5120640"/>
            <a:ext cx="9052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0233A"/>
                </a:solidFill>
              </a:rPr>
              <a:t>Associations, not causal effects. Omitted variables include rainfall, acreage, competitor supply, dealer inventory, government policy and gas availability.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594360" y="5870448"/>
            <a:ext cx="1100023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" y="5870448"/>
            <a:ext cx="73152" cy="475488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98932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0233A"/>
                </a:solidFill>
              </a:rPr>
              <a:t>Frame 4 takeaway: capacity planning should respond to crop timing, promotion and distribution reach — not price alone.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00" b="1">
                <a:solidFill>
                  <a:srgbClr val="667085"/>
                </a:solidFill>
              </a:rPr>
              <a:t>FRAME 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900" b="1">
                <a:solidFill>
                  <a:srgbClr val="0F172A"/>
                </a:solidFill>
              </a:rPr>
              <a:t>Risk Test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10424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00">
                <a:solidFill>
                  <a:srgbClr val="667085"/>
                </a:solidFill>
              </a:rPr>
              <a:t>The 90/10 plan absorbs downside risk — upside and supply disruption require readiness.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1292840" cy="0"/>
          </a:xfrm>
          <a:prstGeom prst="line">
            <a:avLst/>
          </a:prstGeom>
          <a:noFill/>
          <a:ln w="10160">
            <a:solidFill>
              <a:srgbClr val="D9DD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80192" y="274320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E45B67"/>
          </a:solidFill>
          <a:ln w="12700">
            <a:noFill/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80192" y="342900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00" b="1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D7187"/>
                </a:solidFill>
              </a:rPr>
              <a:t>Mustafa Mirza | MGT-353 Supply Chain Analytics | EFERT Engro Urea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66928" y="1444752"/>
            <a:ext cx="6492240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33A"/>
                </a:solidFill>
              </a:rPr>
              <a:t>Scenario map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78992" y="4407408"/>
            <a:ext cx="5193792" cy="0"/>
          </a:xfrm>
          <a:prstGeom prst="line">
            <a:avLst/>
          </a:prstGeom>
          <a:noFill/>
          <a:ln w="12700">
            <a:solidFill>
              <a:srgbClr val="E4E8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" y="3601177"/>
            <a:ext cx="749808" cy="806231"/>
          </a:xfrm>
          <a:prstGeom prst="rect">
            <a:avLst/>
          </a:prstGeom>
          <a:solidFill>
            <a:srgbClr val="65A5FF"/>
          </a:solidFill>
          <a:ln w="12700">
            <a:solidFill>
              <a:srgbClr val="65A5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336343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33A"/>
                </a:solidFill>
              </a:rPr>
              <a:t>9.96M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59536" y="451713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20233A"/>
                </a:solidFill>
              </a:rPr>
              <a:t>Downside -10%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896112" y="484632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5A5FF"/>
                </a:solidFill>
              </a:rPr>
              <a:t>absorbed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2313432" y="3511326"/>
            <a:ext cx="749808" cy="896082"/>
          </a:xfrm>
          <a:prstGeom prst="rect">
            <a:avLst/>
          </a:prstGeom>
          <a:solidFill>
            <a:srgbClr val="5B4BC4"/>
          </a:solidFill>
          <a:ln w="12700">
            <a:solidFill>
              <a:srgbClr val="5B4BC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31136" y="327358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33A"/>
                </a:solidFill>
              </a:rPr>
              <a:t>11.07M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093976" y="451713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20233A"/>
                </a:solidFill>
              </a:rPr>
              <a:t>Base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2130552" y="484632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4BC4"/>
                </a:solidFill>
              </a:rPr>
              <a:t>plan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3547872" y="3422284"/>
            <a:ext cx="749808" cy="985124"/>
          </a:xfrm>
          <a:prstGeom prst="rect">
            <a:avLst/>
          </a:prstGeom>
          <a:solidFill>
            <a:srgbClr val="F08A5D"/>
          </a:solidFill>
          <a:ln w="12700">
            <a:solidFill>
              <a:srgbClr val="F08A5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65576" y="318454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33A"/>
                </a:solidFill>
              </a:rPr>
              <a:t>12.17M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28416" y="451713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20233A"/>
                </a:solidFill>
              </a:rPr>
              <a:t>Upside +10%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3364992" y="484632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08A5D"/>
                </a:solidFill>
              </a:rPr>
              <a:t>+1.11M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4782312" y="3445759"/>
            <a:ext cx="749808" cy="961649"/>
          </a:xfrm>
          <a:prstGeom prst="rect">
            <a:avLst/>
          </a:prstGeom>
          <a:solidFill>
            <a:srgbClr val="E45B67"/>
          </a:solidFill>
          <a:ln w="12700">
            <a:solidFill>
              <a:srgbClr val="E45B6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3208015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33A"/>
                </a:solidFill>
              </a:rPr>
              <a:t>11.88M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62856" y="451713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20233A"/>
                </a:solidFill>
              </a:rPr>
              <a:t>Event shock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4599432" y="484632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45B67"/>
                </a:solidFill>
              </a:rPr>
              <a:t>+811K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7360920" y="1444752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EEEFF6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60920" y="1444752"/>
            <a:ext cx="73152" cy="914400"/>
          </a:xfrm>
          <a:prstGeom prst="rect">
            <a:avLst/>
          </a:prstGeom>
          <a:solidFill>
            <a:srgbClr val="5B4BC4"/>
          </a:solidFill>
          <a:ln w="12700">
            <a:solidFill>
              <a:srgbClr val="5B4BC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71232" y="166420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6D7187"/>
                </a:solidFill>
              </a:rPr>
              <a:t>FLEXIBLE BASE VOLUME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7571232" y="18653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3B80"/>
                </a:solidFill>
              </a:rPr>
              <a:t>1.11M bags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360920" y="260604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8EEE7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60920" y="2606040"/>
            <a:ext cx="73152" cy="914400"/>
          </a:xfrm>
          <a:prstGeom prst="rect">
            <a:avLst/>
          </a:prstGeom>
          <a:solidFill>
            <a:srgbClr val="F08A5D"/>
          </a:solidFill>
          <a:ln w="12700">
            <a:solidFill>
              <a:srgbClr val="F08A5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71232" y="2825496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6D7187"/>
                </a:solidFill>
              </a:rPr>
              <a:t>+10% UPSIDE EXPOSURE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7571232" y="30266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A5D"/>
                </a:solidFill>
              </a:rPr>
              <a:t>1.11M bags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360920" y="3767328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8E9ED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60920" y="3767328"/>
            <a:ext cx="73152" cy="914400"/>
          </a:xfrm>
          <a:prstGeom prst="rect">
            <a:avLst/>
          </a:prstGeom>
          <a:solidFill>
            <a:srgbClr val="E45B67"/>
          </a:solidFill>
          <a:ln w="12700">
            <a:solidFill>
              <a:srgbClr val="E45B6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1232" y="3986784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6D7187"/>
                </a:solidFill>
              </a:rPr>
              <a:t>10% SUPPLY LOSS</a:t>
            </a:r>
            <a:endParaRPr lang="en-US" sz="730" dirty="0"/>
          </a:p>
        </p:txBody>
      </p:sp>
      <p:sp>
        <p:nvSpPr>
          <p:cNvPr id="39" name="Text 37"/>
          <p:cNvSpPr/>
          <p:nvPr/>
        </p:nvSpPr>
        <p:spPr>
          <a:xfrm>
            <a:off x="7571232" y="41879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B67"/>
                </a:solidFill>
              </a:rPr>
              <a:t>1.11M bags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571232" y="446227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D7187"/>
                </a:solidFill>
              </a:rPr>
              <a:t>≈55,334 tonnes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94360" y="5870448"/>
            <a:ext cx="1100023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" y="5870448"/>
            <a:ext cx="73152" cy="475488"/>
          </a:xfrm>
          <a:prstGeom prst="rect">
            <a:avLst/>
          </a:prstGeom>
          <a:solidFill>
            <a:srgbClr val="E45B67"/>
          </a:solidFill>
          <a:ln w="12700">
            <a:solidFill>
              <a:srgbClr val="E45B67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598932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0233A"/>
                </a:solidFill>
              </a:rPr>
              <a:t>Frame 5 takeaway: flexibility protects against weak demand; contingency capacity protects against upside and disruption.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00" b="1">
                <a:solidFill>
                  <a:srgbClr val="667085"/>
                </a:solidFill>
              </a:rPr>
              <a:t>FRAME 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900" b="1">
                <a:solidFill>
                  <a:srgbClr val="0F172A"/>
                </a:solidFill>
              </a:rPr>
              <a:t>Action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10424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00">
                <a:solidFill>
                  <a:srgbClr val="667085"/>
                </a:solidFill>
              </a:rPr>
              <a:t>Commit 9.96M bags. Keep 1.11M flexible. Reforecast early.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1292840" cy="0"/>
          </a:xfrm>
          <a:prstGeom prst="line">
            <a:avLst/>
          </a:prstGeom>
          <a:noFill/>
          <a:ln w="10160">
            <a:solidFill>
              <a:srgbClr val="D9DD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80192" y="274320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 w="12700">
            <a:noFill/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80192" y="342900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00" b="1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D7187"/>
                </a:solidFill>
              </a:rPr>
              <a:t>Mustafa Mirza | MGT-353 Supply Chain Analytics | EFERT Engro Urea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66928" y="1444752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007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33A"/>
                </a:solidFill>
              </a:rPr>
              <a:t>Operating framework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71800" y="1664208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F1F0F8"/>
          </a:solidFill>
          <a:ln w="10160">
            <a:solidFill>
              <a:srgbClr val="287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9816" y="1828800"/>
            <a:ext cx="21671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7187"/>
                </a:solidFill>
              </a:rPr>
              <a:t>90% COMMITTED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99816" y="2011680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78F0"/>
                </a:solidFill>
              </a:rPr>
              <a:t>9.96M bags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1664208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F1EDFF"/>
          </a:solidFill>
          <a:ln w="10160">
            <a:solidFill>
              <a:srgbClr val="5B4B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88736" y="1828800"/>
            <a:ext cx="21671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7187"/>
                </a:solidFill>
              </a:rPr>
              <a:t>10% RESPONSIVE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888736" y="2011680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4BC4"/>
                </a:solidFill>
              </a:rPr>
              <a:t>1.11M bags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49640" y="1664208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FFF7E5"/>
          </a:solidFill>
          <a:ln w="10160">
            <a:solidFill>
              <a:srgbClr val="F2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77656" y="1828800"/>
            <a:ext cx="21671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7187"/>
                </a:solidFill>
              </a:rPr>
              <a:t>EVENT-WEEK READINESS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677656" y="2011680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84B"/>
                </a:solidFill>
              </a:rPr>
              <a:t>+811K bags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2788920"/>
            <a:ext cx="6766560" cy="2139696"/>
          </a:xfrm>
          <a:prstGeom prst="roundRect">
            <a:avLst>
              <a:gd name="adj" fmla="val 3419"/>
            </a:avLst>
          </a:prstGeom>
          <a:solidFill>
            <a:srgbClr val="EEF0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788920"/>
            <a:ext cx="91440" cy="2139696"/>
          </a:xfrm>
          <a:prstGeom prst="rect">
            <a:avLst/>
          </a:prstGeom>
          <a:solidFill>
            <a:srgbClr val="2878F0"/>
          </a:solidFill>
          <a:ln w="12700">
            <a:solidFill>
              <a:srgbClr val="2878F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0540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8F0"/>
                </a:solidFill>
              </a:rPr>
              <a:t>Final recommendation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401568"/>
            <a:ext cx="59893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0233A"/>
                </a:solidFill>
              </a:rPr>
              <a:t>Use Holt-Winters as the primary next-12-week planning forecast. Plan against 11.07M bags, commit 9.96M now, retain 1.11M flexible, and maintain event-week readiness for +811K bags if agricultural demand strengthens materially.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35240" y="2788920"/>
            <a:ext cx="3383280" cy="2139696"/>
          </a:xfrm>
          <a:prstGeom prst="roundRect">
            <a:avLst>
              <a:gd name="adj" fmla="val 3419"/>
            </a:avLst>
          </a:prstGeom>
          <a:solidFill>
            <a:srgbClr val="FFF7E5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2788920"/>
            <a:ext cx="91440" cy="2139696"/>
          </a:xfrm>
          <a:prstGeom prst="rect">
            <a:avLst/>
          </a:prstGeom>
          <a:solidFill>
            <a:srgbClr val="F08A5D"/>
          </a:solidFill>
          <a:ln w="12700">
            <a:solidFill>
              <a:srgbClr val="F08A5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82128" y="3054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A5D"/>
                </a:solidFill>
              </a:rPr>
              <a:t>Reforecast when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00416" y="3429000"/>
            <a:ext cx="26974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20233A"/>
                </a:solidFill>
              </a:rPr>
              <a:t>first-two-week deviation exceeds 10%</a:t>
            </a:r>
            <a:endParaRPr lang="en-US" sz="1050" dirty="0"/>
          </a:p>
          <a:p>
            <a:r>
              <a:rPr lang="en-US" sz="1050" dirty="0">
                <a:solidFill>
                  <a:srgbClr val="20233A"/>
                </a:solidFill>
              </a:rPr>
              <a:t>Tracking Signal deteriorates materially</a:t>
            </a:r>
            <a:endParaRPr lang="en-US" sz="1050" dirty="0"/>
          </a:p>
          <a:p>
            <a:r>
              <a:rPr lang="en-US" sz="1050" dirty="0">
                <a:solidFill>
                  <a:srgbClr val="20233A"/>
                </a:solidFill>
              </a:rPr>
              <a:t>operational disruption threatens &gt;5% of planned supply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5230368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53B80"/>
          </a:solidFill>
          <a:ln w="10160">
            <a:solidFill>
              <a:srgbClr val="253B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38581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Forecast accuracy determines the base plan; flexibility determines whether the plan survives uncertainty.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" y="5870448"/>
            <a:ext cx="1100023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DDE1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5870448"/>
            <a:ext cx="73152" cy="475488"/>
          </a:xfrm>
          <a:prstGeom prst="rect">
            <a:avLst/>
          </a:prstGeom>
          <a:solidFill>
            <a:srgbClr val="2878F0"/>
          </a:solidFill>
          <a:ln w="12700">
            <a:solidFill>
              <a:srgbClr val="2878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598932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0233A"/>
                </a:solidFill>
              </a:rPr>
              <a:t>Frame 6 takeaway: the recommendation is a controlled operating policy, not a blind production target.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71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MGT-353 Supply Chain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EFERT Demand Planning Storyboard</dc:title>
  <dc:subject>EFERT Engro Urea Forecasting Storyboard</dc:subject>
  <dc:creator>Mustafa Mirza</dc:creator>
  <cp:lastModifiedBy>Mustafa Mirza</cp:lastModifiedBy>
  <cp:revision>1</cp:revision>
  <dcterms:created xsi:type="dcterms:W3CDTF">2026-10-05T06:52:31Z</dcterms:created>
  <dcterms:modified xsi:type="dcterms:W3CDTF">2026-10-05T06:52:31Z</dcterms:modified>
</cp:coreProperties>
</file>